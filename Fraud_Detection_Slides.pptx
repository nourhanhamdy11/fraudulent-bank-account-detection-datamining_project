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LogReg</c:v>
                  </c:pt>
                  <c:pt idx="1">
                    <c:v>HistGB</c:v>
                  </c:pt>
                  <c:pt idx="2">
                    <c:v>Stacking</c:v>
                  </c:pt>
                  <c:pt idx="3">
                    <c:v>RandomForest</c:v>
                  </c:pt>
                  <c:pt idx="4">
                    <c:v>SVM</c:v>
                  </c:pt>
                  <c:pt idx="5">
                    <c:v>DecisionTree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0.136</c:v>
                </c:pt>
                <c:pt idx="1">
                  <c:v>0.136</c:v>
                </c:pt>
                <c:pt idx="2">
                  <c:v>0.135</c:v>
                </c:pt>
                <c:pt idx="3">
                  <c:v>0.127</c:v>
                </c:pt>
                <c:pt idx="4">
                  <c:v>0.097</c:v>
                </c:pt>
                <c:pt idx="5">
                  <c:v>0.06</c:v>
                </c:pt>
                <c:pt idx="6">
                  <c:v>0.046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@ 5% FPR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LogReg</c:v>
                  </c:pt>
                  <c:pt idx="1">
                    <c:v>HistGB</c:v>
                  </c:pt>
                  <c:pt idx="2">
                    <c:v>Stacking</c:v>
                  </c:pt>
                  <c:pt idx="3">
                    <c:v>RandomForest</c:v>
                  </c:pt>
                  <c:pt idx="4">
                    <c:v>SVM</c:v>
                  </c:pt>
                  <c:pt idx="5">
                    <c:v>DecisionTree</c:v>
                  </c:pt>
                  <c:pt idx="6">
                    <c:v>KNN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0.536</c:v>
                </c:pt>
                <c:pt idx="1">
                  <c:v>0.491</c:v>
                </c:pt>
                <c:pt idx="2">
                  <c:v>0.527</c:v>
                </c:pt>
                <c:pt idx="3">
                  <c:v>0.5</c:v>
                </c:pt>
                <c:pt idx="4">
                  <c:v>0.5</c:v>
                </c:pt>
                <c:pt idx="5">
                  <c:v>0.291</c:v>
                </c:pt>
                <c:pt idx="6">
                  <c:v>0.291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DETECTION UNDER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CLASS IMBALANCE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comparison of six classifiers on one million bank account applications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4343400"/>
            <a:ext cx="2926080" cy="0"/>
          </a:xfrm>
          <a:prstGeom prst="line">
            <a:avLst/>
          </a:prstGeom>
          <a:noFill/>
          <a:ln w="25400">
            <a:solidFill>
              <a:srgbClr val="C8A4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Project — Phase 2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Bank Account Fraud (BAF), NeurIPS 2022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applications   ·   1.10% fraud   ·   90:1 imbalance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 fraud, asymmetric costs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 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attributes captured at the moment of an online bank account application, predict whether it is fraudulent.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hard. 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&lt; 2% of applications, and the two errors cost very differently: a missed fraud is expensive, while too many false alarms flood manual review and hurt real customers.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trap. 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“always legitimate” model scores 98.9% accuracy — so accuracy is meaningless here.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766560" y="1783080"/>
            <a:ext cx="2514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  <a:effectLst>
            <a:outerShdw sx="100000" sy="100000" kx="0" ky="0" algn="bl" rotWithShape="0" blurRad="63500" dist="25400" dir="8100000">
              <a:srgbClr val="88888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509760" y="1783080"/>
            <a:ext cx="2514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  <a:effectLst>
            <a:outerShdw sx="100000" sy="100000" kx="0" ky="0" algn="bl" rotWithShape="0" blurRad="63500" dist="25400" dir="8100000">
              <a:srgbClr val="88888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9760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11,029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60120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(1.10%)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66560" y="3703320"/>
            <a:ext cx="2514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  <a:effectLst>
            <a:outerShdw sx="100000" sy="100000" kx="0" ky="0" algn="bl" rotWithShape="0" blurRad="63500" dist="25400" dir="8100000">
              <a:srgbClr val="88888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39319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: 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858000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09760" y="3703320"/>
            <a:ext cx="2514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  <a:effectLst>
            <a:outerShdw sx="100000" sy="100000" kx="0" ky="0" algn="bl" rotWithShape="0" blurRad="63500" dist="25400" dir="8100000">
              <a:srgbClr val="88888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39319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A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+ 1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601200" y="4754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target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Bank Account Detection  ·  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weak signals, no silver bullet</a:t>
            </a:r>
            <a:endParaRPr lang="en-US" sz="3200" dirty="0"/>
          </a:p>
        </p:txBody>
      </p:sp>
      <p:pic>
        <p:nvPicPr>
          <p:cNvPr id="4" name="Image 0" descr="/home/claude/proj/figures/fig_class_imbal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5120640" cy="3931920"/>
          </a:xfrm>
          <a:prstGeom prst="rect">
            <a:avLst/>
          </a:prstGeom>
        </p:spPr>
      </p:pic>
      <p:pic>
        <p:nvPicPr>
          <p:cNvPr id="5" name="Image 1" descr="/home/claude/proj/figures/fig_target_cor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783080"/>
            <a:ext cx="566928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5486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feature’s correlation with fraud is |r| &lt; 0.1 → favors additive models that combine many weak cues.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Bank Account Detection  ·  Phase 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leakage-safe, reproducible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8562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66160" y="1828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→ NaN + missing flags · median impute · one-hot · standardize — fit on TRAIN only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1540" y="2377440"/>
            <a:ext cx="0" cy="384048"/>
          </a:xfrm>
          <a:prstGeom prst="line">
            <a:avLst/>
          </a:prstGeom>
          <a:noFill/>
          <a:ln w="25400">
            <a:solidFill>
              <a:srgbClr val="D9D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6148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7157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classifiers + stacking ensemble · class weighting for imbalance · seed 42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1540" y="3264408"/>
            <a:ext cx="0" cy="384048"/>
          </a:xfrm>
          <a:prstGeom prst="line">
            <a:avLst/>
          </a:prstGeom>
          <a:noFill/>
          <a:ln w="25400">
            <a:solidFill>
              <a:srgbClr val="D9D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48456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36301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6027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+ stratified k-fold CV · scored by PR-AUC · ≥3 configs each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1540" y="4151376"/>
            <a:ext cx="0" cy="384048"/>
          </a:xfrm>
          <a:prstGeom prst="line">
            <a:avLst/>
          </a:prstGeom>
          <a:noFill/>
          <a:ln w="25400">
            <a:solidFill>
              <a:srgbClr val="D9D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535424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4517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66160" y="44897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held-out test set · common metric suite · touched once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9900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treatment:  </a:t>
            </a:r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where supported (LogReg, Tree, SVM, RF, GB); SMOTE for k-NN — kept deliberately to expose its consequences.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Bank Account Detection  · 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models tie at the top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83080"/>
            <a:ext cx="40233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say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63840" y="242316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Gradient Boosting and Stacking lead (PR-AUC ≈ 0.135).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has the best ranking (ROC-AUC 0.913).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5% false-positive budget, LogReg catches 54% of all fraud.</a:t>
            </a:r>
            <a:endParaRPr lang="en-US" sz="13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tree and k-NN trail badly.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Bank Account Detection  ·  Phase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CURVES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performance at any threshold</a:t>
            </a:r>
            <a:endParaRPr lang="en-US" sz="3200" dirty="0"/>
          </a:p>
        </p:txBody>
      </p:sp>
      <p:pic>
        <p:nvPicPr>
          <p:cNvPr id="4" name="Image 0" descr="/home/claude/proj/figures/fig_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83080"/>
            <a:ext cx="5532120" cy="4297680"/>
          </a:xfrm>
          <a:prstGeom prst="rect">
            <a:avLst/>
          </a:prstGeom>
        </p:spPr>
      </p:pic>
      <p:pic>
        <p:nvPicPr>
          <p:cNvPr id="5" name="Image 1" descr="/home/claude/proj/figures/fig_p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783080"/>
            <a:ext cx="553212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Bank Account Detection  ·  Phase 2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k-NN and the SMOTE validation-leakage trap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937760" cy="2377440"/>
          </a:xfrm>
          <a:prstGeom prst="rect">
            <a:avLst/>
          </a:prstGeom>
          <a:solidFill>
            <a:srgbClr val="24242B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FA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PR-AUC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(looked spectacular)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06440" y="265176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A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4937760" cy="2377440"/>
          </a:xfrm>
          <a:prstGeom prst="rect">
            <a:avLst/>
          </a:prstGeom>
          <a:solidFill>
            <a:srgbClr val="3A1316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4231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72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0.046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held-out PR-AUC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(worst of all models)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ran on the whole training pool BEFORE cross-validation, so synthetic minority points leaked into validation folds — the model was scored on near-copies of its own data.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resampling must live INSIDE the cross-validation loop.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simple models win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126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76272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975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Pre-engineered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binned inputs already encode the non-linear structure a tree would otherwise discover.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6126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11296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3101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interactions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666744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 correlations &lt; 0.1 — a problem of many weak independent cues suits additive log-odds.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98848"/>
            <a:ext cx="6126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6451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minority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00176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441 fraud cases in training starve high-capacity models (deep trees, RBF SVM) of signal.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1828800"/>
            <a:ext cx="4663440" cy="3877056"/>
          </a:xfrm>
          <a:prstGeom prst="rect">
            <a:avLst/>
          </a:prstGeom>
          <a:solidFill>
            <a:srgbClr val="1A1A1E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FRAUD SIGNAL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2468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previous</a:t>
            </a:r>
            <a:endParaRPr lang="en-US" sz="2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178040" y="3611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72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+1.33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717804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logistic-regression weight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78040" y="4937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missingness explicitly turned a data gap into the single best predictor.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Bank Account Detection  · 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Findings, limitations,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Logistic Regression matches boosted trees &amp; stacking (ROC-AUC ≈ 0.91).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missing-value flags carry strong, interpretable signal.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outside CV produces a dramatic leakage artifact.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imbalance by PR-AUC &amp; budgeted recall — never accuracy.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0" y="21945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stratified subsample (441 fraud) caps achievable PR-AUC.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train/test split; SVM tuned on subsamples.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threshold calibration or fairness audit yet.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4069080"/>
            <a:ext cx="5212080" cy="1783080"/>
          </a:xfrm>
          <a:prstGeom prst="rect">
            <a:avLst/>
          </a:prstGeom>
          <a:solidFill>
            <a:srgbClr val="FFFFFF"/>
          </a:solidFill>
          <a:ln w="17780">
            <a:solidFill>
              <a:srgbClr val="C8A4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45720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full 1M rows; put SMOTE inside CV.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 on the “month” field for drift.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to an explicit cost matrix; audit fairness.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Bank Account Detection  ·  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Account Fraud Detection</dc:title>
  <dc:subject>PptxGenJS Presentation</dc:subject>
  <dc:creator>ML Project Phase 2</dc:creator>
  <cp:lastModifiedBy>ML Project Phase 2</cp:lastModifiedBy>
  <cp:revision>1</cp:revision>
  <dcterms:created xsi:type="dcterms:W3CDTF">2026-06-02T13:48:53Z</dcterms:created>
  <dcterms:modified xsi:type="dcterms:W3CDTF">2026-06-02T13:48:53Z</dcterms:modified>
</cp:coreProperties>
</file>